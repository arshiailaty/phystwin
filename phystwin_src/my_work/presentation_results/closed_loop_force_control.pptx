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Open: "Hi, I'm Malak. I'm going to talk about closed-loop force</a:t>
            </a:r>
          </a:p>
          <a:p>
            <a:r>
              <a:rPr sz="1300"/>
              <a:t>        tracking on deformable objects, built on top of PhysTwin's</a:t>
            </a:r>
          </a:p>
          <a:p>
            <a:r>
              <a:rPr sz="1300"/>
              <a:t>        differentiable simulator." Keep it under 15 seconds — the real</a:t>
            </a:r>
          </a:p>
          <a:p>
            <a:r>
              <a:rPr sz="1300"/>
              <a:t>        content starts on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Two arrows. The TOP arrow is what PhysTwin already does: it</a:t>
            </a:r>
          </a:p>
          <a:p>
            <a:r>
              <a:rPr sz="1300"/>
              <a:t>        takes RGB-D video, tracks particles, fits a spring-mass</a:t>
            </a:r>
          </a:p>
          <a:p>
            <a:r>
              <a:rPr sz="1300"/>
              <a:t>        simulator to that motion, and recovers the contact forces.</a:t>
            </a:r>
          </a:p>
          <a:p>
            <a:r>
              <a:rPr sz="1300"/>
              <a:t>        Slow — minutes to hours per video.</a:t>
            </a:r>
          </a:p>
          <a:p/>
          <a:p>
            <a:r>
              <a:rPr sz="1300"/>
              <a:t>        The BOTTOM arrow is what WE do: given a target force</a:t>
            </a:r>
          </a:p>
          <a:p>
            <a:r>
              <a:rPr sz="1300"/>
              <a:t>        trajectory, learn a policy that picks gripper motions so the</a:t>
            </a:r>
          </a:p>
          <a:p>
            <a:r>
              <a:rPr sz="1300"/>
              <a:t>        realized force tracks the target — in real time, with one</a:t>
            </a:r>
          </a:p>
          <a:p>
            <a:r>
              <a:rPr sz="1300"/>
              <a:t>        shared policy across rope, cloth, and stuffed animal.</a:t>
            </a:r>
          </a:p>
          <a:p/>
          <a:p>
            <a:r>
              <a:rPr sz="1300"/>
              <a:t>        One sentence to deliver: "PhysTwin solves the forward problem</a:t>
            </a:r>
          </a:p>
          <a:p>
            <a:r>
              <a:rPr sz="1300"/>
              <a:t>        slowly; we invert it, fast, with a learned policy."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Quick definition slide so nobody is confused later.</a:t>
            </a:r>
          </a:p>
          <a:p/>
          <a:p>
            <a:r>
              <a:rPr sz="1300"/>
              <a:t>        Closed-loop just means: every frame, we MEASURE the achieved</a:t>
            </a:r>
          </a:p>
          <a:p>
            <a:r>
              <a:rPr sz="1300"/>
              <a:t>        force from the simulator and FEED IT BACK to the policy as</a:t>
            </a:r>
          </a:p>
          <a:p>
            <a:r>
              <a:rPr sz="1300"/>
              <a:t>        input. The policy then picks the next gripper move based on</a:t>
            </a:r>
          </a:p>
          <a:p>
            <a:r>
              <a:rPr sz="1300"/>
              <a:t>        what actually happened, not on a pre-baked schedule.</a:t>
            </a:r>
          </a:p>
          <a:p/>
          <a:p>
            <a:r>
              <a:rPr sz="1300"/>
              <a:t>        Point at the orange feedback arrow when you say "this is what</a:t>
            </a:r>
          </a:p>
          <a:p>
            <a:r>
              <a:rPr sz="1300"/>
              <a:t>        makes it closed." If you cut that arrow, it becomes open-loop</a:t>
            </a:r>
          </a:p>
          <a:p>
            <a:r>
              <a:rPr sz="1300"/>
              <a:t>        — you just play back a recorded action sequence and accumulate</a:t>
            </a:r>
          </a:p>
          <a:p>
            <a:r>
              <a:rPr sz="1300"/>
              <a:t>        error.</a:t>
            </a:r>
          </a:p>
          <a:p/>
          <a:p>
            <a:r>
              <a:rPr sz="1300"/>
              <a:t>        Foreshadowing: the BC policy fails specifically because it</a:t>
            </a:r>
          </a:p>
          <a:p>
            <a:r>
              <a:rPr sz="1300"/>
              <a:t>        never SAW the closed-loop input distribution at training time.</a:t>
            </a:r>
          </a:p>
          <a:p>
            <a:r>
              <a:rPr sz="1300"/>
              <a:t>        That's what RL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How the whole project is wired, left to right.</a:t>
            </a:r>
          </a:p>
          <a:p/>
          <a:p>
            <a:r>
              <a:rPr sz="1300"/>
              <a:t>        Step 1: take the 14 cases PhysTwin already calibrated.</a:t>
            </a:r>
          </a:p>
          <a:p>
            <a:r>
              <a:rPr sz="1300"/>
              <a:t>        Step 2: drive the SAME calibrated simulator with synthetic</a:t>
            </a:r>
          </a:p>
          <a:p>
            <a:r>
              <a:rPr sz="1300"/>
              <a:t>        motions (push, sinusoid, random walk, hold-release, ramp) —</a:t>
            </a:r>
          </a:p>
          <a:p>
            <a:r>
              <a:rPr sz="1300"/>
              <a:t>        262 new trajectories — so the dataset isn't just 14 cases but</a:t>
            </a:r>
          </a:p>
          <a:p>
            <a:r>
              <a:rPr sz="1300"/>
              <a:t>        ~33K state-action pairs.</a:t>
            </a:r>
          </a:p>
          <a:p>
            <a:r>
              <a:rPr sz="1300"/>
              <a:t>        Step 3: supervised BC on that dataset — one shot, fast.</a:t>
            </a:r>
          </a:p>
          <a:p>
            <a:r>
              <a:rPr sz="1300"/>
              <a:t>        Step 4: warm-start a PPO policy from those BC weights and let</a:t>
            </a:r>
          </a:p>
          <a:p>
            <a:r>
              <a:rPr sz="1300"/>
              <a:t>        it roll out in the simulator with reward = closed-loop force</a:t>
            </a:r>
          </a:p>
          <a:p>
            <a:r>
              <a:rPr sz="1300"/>
              <a:t>        tracking error.</a:t>
            </a:r>
          </a:p>
          <a:p>
            <a:r>
              <a:rPr sz="1300"/>
              <a:t>        Step 5: same 14-case eval at the end so BC and RL are directly</a:t>
            </a:r>
          </a:p>
          <a:p>
            <a:r>
              <a:rPr sz="1300"/>
              <a:t>        comparable.</a:t>
            </a:r>
          </a:p>
          <a:p/>
          <a:p>
            <a:r>
              <a:rPr sz="1300"/>
              <a:t>        One sentence: "Same MLP all the way through. The RL actor is</a:t>
            </a:r>
          </a:p>
          <a:p>
            <a:r>
              <a:rPr sz="1300"/>
              <a:t>        literally the BC weights plus an exploration head on top."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This is your "What's New" slide — the 4-minute heart of the talk.</a:t>
            </a:r>
          </a:p>
          <a:p/>
          <a:p>
            <a:r>
              <a:rPr sz="1300"/>
              <a:t>        1. CLOSED-LOOP DRIVER: a new method we wrote inside PhysTwin's</a:t>
            </a:r>
          </a:p>
          <a:p>
            <a:r>
              <a:rPr sz="1300"/>
              <a:t>           warp simulator (~200 LOC) that lets ANY policy drive the</a:t>
            </a:r>
          </a:p>
          <a:p>
            <a:r>
              <a:rPr sz="1300"/>
              <a:t>           simulator frame-by-frame, with feedback. Upstream PhysTwin</a:t>
            </a:r>
          </a:p>
          <a:p>
            <a:r>
              <a:rPr sz="1300"/>
              <a:t>           only does offline batch optimization — no notion of a</a:t>
            </a:r>
          </a:p>
          <a:p>
            <a:r>
              <a:rPr sz="1300"/>
              <a:t>           controller-in-the-loop.</a:t>
            </a:r>
          </a:p>
          <a:p/>
          <a:p>
            <a:r>
              <a:rPr sz="1300"/>
              <a:t>        2. DATA AUGMENTATION: 14 real cases is tiny. We generate 262</a:t>
            </a:r>
          </a:p>
          <a:p>
            <a:r>
              <a:rPr sz="1300"/>
              <a:t>           synthetic motions on the SAME calibrated simulator, so the</a:t>
            </a:r>
          </a:p>
          <a:p>
            <a:r>
              <a:rPr sz="1300"/>
              <a:t>           training data covers behaviors the real videos don't (e.g.,</a:t>
            </a:r>
          </a:p>
          <a:p>
            <a:r>
              <a:rPr sz="1300"/>
              <a:t>           ramps that go up AND come back down). Mention: this alone</a:t>
            </a:r>
          </a:p>
          <a:p>
            <a:r>
              <a:rPr sz="1300"/>
              <a:t>           fixed the BC release problem on rope (0.04 -&gt; 0.84) before</a:t>
            </a:r>
          </a:p>
          <a:p>
            <a:r>
              <a:rPr sz="1300"/>
              <a:t>           RL was even on the table.</a:t>
            </a:r>
          </a:p>
          <a:p/>
          <a:p>
            <a:r>
              <a:rPr sz="1300"/>
              <a:t>        3. MATERIAL CONDITIONING: a 2-d descriptor — log of mean spring</a:t>
            </a:r>
          </a:p>
          <a:p>
            <a:r>
              <a:rPr sz="1300"/>
              <a:t>           stiffness, log of mean recorded force — lets one shared MLP</a:t>
            </a:r>
          </a:p>
          <a:p>
            <a:r>
              <a:rPr sz="1300"/>
              <a:t>           specialize per case at inference time.</a:t>
            </a:r>
          </a:p>
          <a:p/>
          <a:p>
            <a:r>
              <a:rPr sz="1300"/>
              <a:t>        4. PPO + BC WARM-START: built our own minimal PPO (no SB3) so</a:t>
            </a:r>
          </a:p>
          <a:p>
            <a:r>
              <a:rPr sz="1300"/>
              <a:t>           we control critic warmup and log-ratio clipping. Both</a:t>
            </a:r>
          </a:p>
          <a:p>
            <a:r>
              <a:rPr sz="1300"/>
              <a:t>           tricks are needed; without critic warmup, the random critic</a:t>
            </a:r>
          </a:p>
          <a:p>
            <a:r>
              <a:rPr sz="1300"/>
              <a:t>           destroys the BC-warm-started actor in the first update.</a:t>
            </a:r>
          </a:p>
          <a:p/>
          <a:p>
            <a:r>
              <a:rPr sz="1300"/>
              <a:t>        5. DIAGNOSIS: we tried 4 goal-side fixes (hindsight relabeling,</a:t>
            </a:r>
          </a:p>
          <a:p>
            <a:r>
              <a:rPr sz="1300"/>
              <a:t>           hierarchical sub-goals, incremental shaping, synthetic ramp</a:t>
            </a:r>
          </a:p>
          <a:p>
            <a:r>
              <a:rPr sz="1300"/>
              <a:t>           data) — three failed, one partially worked. That negative-</a:t>
            </a:r>
          </a:p>
          <a:p>
            <a:r>
              <a:rPr sz="1300"/>
              <a:t>           results chain is what motivated turning to RL.</a:t>
            </a:r>
          </a:p>
          <a:p/>
          <a:p>
            <a:r>
              <a:rPr sz="1300"/>
              <a:t>        Punchline to land: "First end-to-end PPO + BC-warm-start with</a:t>
            </a:r>
          </a:p>
          <a:p>
            <a:r>
              <a:rPr sz="1300"/>
              <a:t>        material conditioning on PhysTwin's differentiable simulator."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30-second slide. Walk left to right across the five blocks:</a:t>
            </a:r>
          </a:p>
          <a:p/>
          <a:p>
            <a:r>
              <a:rPr sz="1300"/>
              <a:t>        - Deformation features (18 dims): summary stats over particle</a:t>
            </a:r>
          </a:p>
          <a:p>
            <a:r>
              <a:rPr sz="1300"/>
              <a:t>          positions — centroid displacement, bounding-box change,</a:t>
            </a:r>
          </a:p>
          <a:p>
            <a:r>
              <a:rPr sz="1300"/>
              <a:t>          max/mean/std per axis. This is "how is the object shaped</a:t>
            </a:r>
          </a:p>
          <a:p>
            <a:r>
              <a:rPr sz="1300"/>
              <a:t>          right now compared to rest?"</a:t>
            </a:r>
          </a:p>
          <a:p>
            <a:r>
              <a:rPr sz="1300"/>
              <a:t>        - Control-point features (13 dims): the gripper's current</a:t>
            </a:r>
          </a:p>
          <a:p>
            <a:r>
              <a:rPr sz="1300"/>
              <a:t>          position, velocity, and displacement from rest.</a:t>
            </a:r>
          </a:p>
          <a:p>
            <a:r>
              <a:rPr sz="1300"/>
              <a:t>        - Achieved force (6 dims): the force currently being applied</a:t>
            </a:r>
          </a:p>
          <a:p>
            <a:r>
              <a:rPr sz="1300"/>
              <a:t>          on each gripper (up to 2 grippers, 3 axes each). THIS is</a:t>
            </a:r>
          </a:p>
          <a:p>
            <a:r>
              <a:rPr sz="1300"/>
              <a:t>          the feedback signal that makes it closed-loop.</a:t>
            </a:r>
          </a:p>
          <a:p>
            <a:r>
              <a:rPr sz="1300"/>
              <a:t>        - Goal force (6 dims): the target force on the NEXT frame.</a:t>
            </a:r>
          </a:p>
          <a:p>
            <a:r>
              <a:rPr sz="1300"/>
              <a:t>        - Material descriptor (2 dims): log spring stiffness + log</a:t>
            </a:r>
          </a:p>
          <a:p>
            <a:r>
              <a:rPr sz="1300"/>
              <a:t>          typical force magnitude, per case. Lets one MLP specialize.</a:t>
            </a:r>
          </a:p>
          <a:p/>
          <a:p>
            <a:r>
              <a:rPr sz="1300"/>
              <a:t>        Total 45 dimensions. Both BC and RL use the same vector — the</a:t>
            </a:r>
          </a:p>
          <a:p>
            <a:r>
              <a:rPr sz="1300"/>
              <a:t>        only difference between them is HOW the weights were trained,</a:t>
            </a:r>
          </a:p>
          <a:p>
            <a:r>
              <a:rPr sz="1300"/>
              <a:t>        not what they look at.</a:t>
            </a:r>
          </a:p>
          <a:p/>
          <a:p>
            <a:r>
              <a:rPr sz="1300"/>
              <a:t>        Mention: "the 'closed-loop' part of the project lives in the</a:t>
            </a:r>
          </a:p>
          <a:p>
            <a:r>
              <a:rPr sz="1300"/>
              <a:t>        red Achieved Force block — that's the input that comes from</a:t>
            </a:r>
          </a:p>
          <a:p>
            <a:r>
              <a:rPr sz="1300"/>
              <a:t>        the simulator each frame, not from training data."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The headline slide. Read it as TWO SUB-STORIES across the bars.</a:t>
            </a:r>
          </a:p>
          <a:p/>
          <a:p>
            <a:r>
              <a:rPr sz="1300"/>
              <a:t>        Lower bars = better tracking. The dashed red line at y=1.0 is</a:t>
            </a:r>
          </a:p>
          <a:p>
            <a:r>
              <a:rPr sz="1300"/>
              <a:t>        the "uncontrolled" threshold — above it, the policy is failing.</a:t>
            </a:r>
          </a:p>
          <a:p/>
          <a:p>
            <a:r>
              <a:rPr sz="1300"/>
              <a:t>        SUB-STORY 1 (compare gray to blue): adding the 2-d material</a:t>
            </a:r>
          </a:p>
          <a:p>
            <a:r>
              <a:rPr sz="1300"/>
              <a:t>        descriptor improves both BC and RL across the board. Most</a:t>
            </a:r>
          </a:p>
          <a:p>
            <a:r>
              <a:rPr sz="1300"/>
              <a:t>        dramatic on cloth ramp: 6.55 -&gt; 2.28. One MLP can specialize.</a:t>
            </a:r>
          </a:p>
          <a:p/>
          <a:p>
            <a:r>
              <a:rPr sz="1300"/>
              <a:t>        SUB-STORY 2 (compare blue to green): switching from BC to RL</a:t>
            </a:r>
          </a:p>
          <a:p>
            <a:r>
              <a:rPr sz="1300"/>
              <a:t>        helps where the closed-loop input is OUT of training</a:t>
            </a:r>
          </a:p>
          <a:p>
            <a:r>
              <a:rPr sz="1300"/>
              <a:t>        distribution. Headline: rope ramp release jumps from 0.04</a:t>
            </a:r>
          </a:p>
          <a:p>
            <a:r>
              <a:rPr sz="1300"/>
              <a:t>        (BC barely retracts at all) to 0.87 (RL retracts cleanly).</a:t>
            </a:r>
          </a:p>
          <a:p>
            <a:r>
              <a:rPr sz="1300"/>
              <a:t>        Rope replay drops from 0.75 to 0.41 — a 45% improvement.</a:t>
            </a:r>
          </a:p>
          <a:p/>
          <a:p>
            <a:r>
              <a:rPr sz="1300"/>
              <a:t>        Honest beat: cloth ramp and sloth ramp are still above 1.0 —</a:t>
            </a:r>
          </a:p>
          <a:p>
            <a:r>
              <a:rPr sz="1300"/>
              <a:t>        we'll talk about that on the limitations slide. RL doesn't fix</a:t>
            </a:r>
          </a:p>
          <a:p>
            <a:r>
              <a:rPr sz="1300"/>
              <a:t>        everything.</a:t>
            </a:r>
          </a:p>
          <a:p/>
          <a:p>
            <a:r>
              <a:rPr sz="1300"/>
              <a:t>        One-liner: "Material conditioning helps both methods. RL adds</a:t>
            </a:r>
          </a:p>
          <a:p>
            <a:r>
              <a:rPr sz="1300"/>
              <a:t>        a release fix that supervised learning can't get."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Zoom-in on the material-conditioning sub-story. Just three</a:t>
            </a:r>
          </a:p>
          <a:p>
            <a:r>
              <a:rPr sz="1300"/>
              <a:t>        numbers per row, three rows. Read down the columns:</a:t>
            </a:r>
          </a:p>
          <a:p/>
          <a:p>
            <a:r>
              <a:rPr sz="1300"/>
              <a:t>        - "rope rep" = closed-loop replay on rope cases (recorded</a:t>
            </a:r>
          </a:p>
          <a:p>
            <a:r>
              <a:rPr sz="1300"/>
              <a:t>          goal). 0.75 -&gt; 0.46 -&gt; 0.41 — every step helps.</a:t>
            </a:r>
          </a:p>
          <a:p>
            <a:r>
              <a:rPr sz="1300"/>
              <a:t>        - "cloth ramp" = synthetic ramp on cloth. 6.55 -&gt; 2.28 -&gt; 2.31.</a:t>
            </a:r>
          </a:p>
          <a:p>
            <a:r>
              <a:rPr sz="1300"/>
              <a:t>          The descriptor alone fixes most of it; RL barely moves it.</a:t>
            </a:r>
          </a:p>
          <a:p>
            <a:r>
              <a:rPr sz="1300"/>
              <a:t>        - "sloth ramp" = synthetic ramp on the stuffed animal.</a:t>
            </a:r>
          </a:p>
          <a:p>
            <a:r>
              <a:rPr sz="1300"/>
              <a:t>          5.06 -&gt; 1.73 -&gt; 2.66. Descriptor helped, but RL regressed —</a:t>
            </a:r>
          </a:p>
          <a:p>
            <a:r>
              <a:rPr sz="1300"/>
              <a:t>          this is the case that motivates the Fix-G future work.</a:t>
            </a:r>
          </a:p>
          <a:p/>
          <a:p>
            <a:r>
              <a:rPr sz="1300"/>
              <a:t>        Takeaway: "A two-dimensional material descriptor — log</a:t>
            </a:r>
          </a:p>
          <a:p>
            <a:r>
              <a:rPr sz="1300"/>
              <a:t>        stiffness, log force magnitude — gets a single MLP to</a:t>
            </a:r>
          </a:p>
          <a:p>
            <a:r>
              <a:rPr sz="1300"/>
              <a:t>        specialize across three very different materials."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The mechanistic "why does BC fail?" slide. Spend 50 seconds</a:t>
            </a:r>
          </a:p>
          <a:p>
            <a:r>
              <a:rPr sz="1300"/>
              <a:t>        here — this is the conceptual core of the BC -&gt; RL story.</a:t>
            </a:r>
          </a:p>
          <a:p/>
          <a:p>
            <a:r>
              <a:rPr sz="1300"/>
              <a:t>        Black line: the goal force trajectory — ramp up, ramp down,</a:t>
            </a:r>
          </a:p>
          <a:p>
            <a:r>
              <a:rPr sz="1300"/>
              <a:t>        ending at zero.</a:t>
            </a:r>
          </a:p>
          <a:p/>
          <a:p>
            <a:r>
              <a:rPr sz="1300"/>
              <a:t>        Gray line (BC): tracks the rise OK, but when the goal drops</a:t>
            </a:r>
          </a:p>
          <a:p>
            <a:r>
              <a:rPr sz="1300"/>
              <a:t>        back to zero, BC keeps applying force. It clamps at the peak.</a:t>
            </a:r>
          </a:p>
          <a:p>
            <a:r>
              <a:rPr sz="1300"/>
              <a:t>        Why? Because supervised data was collected from OPEN-LOOP</a:t>
            </a:r>
          </a:p>
          <a:p>
            <a:r>
              <a:rPr sz="1300"/>
              <a:t>        trajectories — so the BC policy never SAW an input where</a:t>
            </a:r>
          </a:p>
          <a:p>
            <a:r>
              <a:rPr sz="1300"/>
              <a:t>        "current force is high and goal is low at the same time."</a:t>
            </a:r>
          </a:p>
          <a:p/>
          <a:p>
            <a:r>
              <a:rPr sz="1300"/>
              <a:t>        Green line (RL): RL collects ITS OWN closed-loop rollouts. It</a:t>
            </a:r>
          </a:p>
          <a:p>
            <a:r>
              <a:rPr sz="1300"/>
              <a:t>        encounters that "release" state during training, gets bad</a:t>
            </a:r>
          </a:p>
          <a:p>
            <a:r>
              <a:rPr sz="1300"/>
              <a:t>        reward when it doesn't retract, and learns to retract.</a:t>
            </a:r>
          </a:p>
          <a:p/>
          <a:p>
            <a:r>
              <a:rPr sz="1300"/>
              <a:t>        Concrete number on the right panel: release fraction goes</a:t>
            </a:r>
          </a:p>
          <a:p>
            <a:r>
              <a:rPr sz="1300"/>
              <a:t>        from 0.04 to 0.87 — basically from "doesn't retract" to</a:t>
            </a:r>
          </a:p>
          <a:p>
            <a:r>
              <a:rPr sz="1300"/>
              <a:t>        "retracts almost completely."</a:t>
            </a:r>
          </a:p>
          <a:p/>
          <a:p>
            <a:r>
              <a:rPr sz="1300"/>
              <a:t>        One-liner: "The reason BC fails here is exactly the reason</a:t>
            </a:r>
          </a:p>
          <a:p>
            <a:r>
              <a:rPr sz="1300"/>
              <a:t>        RL works here — closed-loop states that supervised data</a:t>
            </a:r>
          </a:p>
          <a:p>
            <a:r>
              <a:rPr sz="1300"/>
              <a:t>        never contained."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Live videos, ~30 seconds total — keep it tight.</a:t>
            </a:r>
          </a:p>
          <a:p/>
          <a:p>
            <a:r>
              <a:rPr sz="1300"/>
              <a:t>        LEFT (BC + descriptor on cloth lift, err 0.22): "This is what</a:t>
            </a:r>
          </a:p>
          <a:p>
            <a:r>
              <a:rPr sz="1300"/>
              <a:t>        supervised learning gets you when the test situation is in</a:t>
            </a:r>
          </a:p>
          <a:p>
            <a:r>
              <a:rPr sz="1300"/>
              <a:t>        distribution. Cleanest single result in the project — error</a:t>
            </a:r>
          </a:p>
          <a:p>
            <a:r>
              <a:rPr sz="1300"/>
              <a:t>        ratio 0.22."</a:t>
            </a:r>
          </a:p>
          <a:p/>
          <a:p>
            <a:r>
              <a:rPr sz="1300"/>
              <a:t>        Let it play 8 seconds, then transition.</a:t>
            </a:r>
          </a:p>
          <a:p/>
          <a:p>
            <a:r>
              <a:rPr sz="1300"/>
              <a:t>        RIGHT (RL + descriptor on rope ramp): "And this is what RL</a:t>
            </a:r>
          </a:p>
          <a:p>
            <a:r>
              <a:rPr sz="1300"/>
              <a:t>        adds on top — when the goal drops to zero, BC stalls but the</a:t>
            </a:r>
          </a:p>
          <a:p>
            <a:r>
              <a:rPr sz="1300"/>
              <a:t>        RL policy retracts. Release fraction 0.04 to 0.87."</a:t>
            </a:r>
          </a:p>
          <a:p/>
          <a:p>
            <a:r>
              <a:rPr sz="1300"/>
              <a:t>        Let that play ~12 seconds. The visual of the gripper actually</a:t>
            </a:r>
          </a:p>
          <a:p>
            <a:r>
              <a:rPr sz="1300"/>
              <a:t>        pulling back at the right moment is the selling point.</a:t>
            </a:r>
          </a:p>
          <a:p/>
          <a:p>
            <a:r>
              <a:rPr sz="1300"/>
              <a:t>        Note: same network architecture in both. Same simulator.</a:t>
            </a:r>
          </a:p>
          <a:p>
            <a:r>
              <a:rPr sz="1300"/>
              <a:t>        Same 45-dim input. The only difference is HOW the weights</a:t>
            </a:r>
          </a:p>
          <a:p>
            <a:r>
              <a:rPr sz="1300"/>
              <a:t>        were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Honest 30 seconds — don't oversell.</a:t>
            </a:r>
          </a:p>
          <a:p/>
          <a:p>
            <a:r>
              <a:rPr sz="1300"/>
              <a:t>        Three concrete things to call out:</a:t>
            </a:r>
          </a:p>
          <a:p>
            <a:r>
              <a:rPr sz="1300"/>
              <a:t>        1. CLOTH RAMP error ratio is still 2.31 — above the</a:t>
            </a:r>
          </a:p>
          <a:p>
            <a:r>
              <a:rPr sz="1300"/>
              <a:t>           "uncontrolled" threshold of 1.0.</a:t>
            </a:r>
          </a:p>
          <a:p>
            <a:r>
              <a:rPr sz="1300"/>
              <a:t>        2. SLOTH RAMP regressed from BC (1.73) to RL (2.66). RL</a:t>
            </a:r>
          </a:p>
          <a:p>
            <a:r>
              <a:rPr sz="1300"/>
              <a:t>           learned to retract on rope and overfit that behavior on</a:t>
            </a:r>
          </a:p>
          <a:p>
            <a:r>
              <a:rPr sz="1300"/>
              <a:t>           sloth.</a:t>
            </a:r>
          </a:p>
          <a:p>
            <a:r>
              <a:rPr sz="1300"/>
              <a:t>        3. ROPE_4 outlier: a "gentle push" case (peak force ~2.5 kN</a:t>
            </a:r>
          </a:p>
          <a:p>
            <a:r>
              <a:rPr sz="1300"/>
              <a:t>           vs typical ~15 kN) underrepresented in training.</a:t>
            </a:r>
          </a:p>
          <a:p/>
          <a:p>
            <a:r>
              <a:rPr sz="1300"/>
              <a:t>        I also tried a stiffness-shaped reward (Fix G) to fix the</a:t>
            </a:r>
          </a:p>
          <a:p>
            <a:r>
              <a:rPr sz="1300"/>
              <a:t>        sloth-ramp regression — it worked on cloth but didn't move</a:t>
            </a:r>
          </a:p>
          <a:p>
            <a:r>
              <a:rPr sz="1300"/>
              <a:t>        sloth ramp. Why is one of the next steps.</a:t>
            </a:r>
          </a:p>
          <a:p/>
          <a:p>
            <a:r>
              <a:rPr sz="1300"/>
              <a:t>        Don't dwell. Move on within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Three concrete deliverables for the final report. Spend 2</a:t>
            </a:r>
          </a:p>
          <a:p>
            <a:r>
              <a:rPr sz="1300"/>
              <a:t>        minutes here — this is the "what's next" budget.</a:t>
            </a:r>
          </a:p>
          <a:p/>
          <a:p>
            <a:r>
              <a:rPr sz="1300"/>
              <a:t>        1. PER-MATERIAL REWARD SHAPING. Fix G used one global alpha</a:t>
            </a:r>
          </a:p>
          <a:p>
            <a:r>
              <a:rPr sz="1300"/>
              <a:t>           across all materials. Next try: alpha per material —</a:t>
            </a:r>
          </a:p>
          <a:p>
            <a:r>
              <a:rPr sz="1300"/>
              <a:t>           rope=0, cloth=500, sloth=2000. Deliverable: extra row on</a:t>
            </a:r>
          </a:p>
          <a:p>
            <a:r>
              <a:rPr sz="1300"/>
              <a:t>           the bar chart. Target cloth ramp below 2.0 without</a:t>
            </a:r>
          </a:p>
          <a:p>
            <a:r>
              <a:rPr sz="1300"/>
              <a:t>           regressing rope.</a:t>
            </a:r>
          </a:p>
          <a:p/>
          <a:p>
            <a:r>
              <a:rPr sz="1300"/>
              <a:t>        2. CAN BC CATCH UP TO RL WITH MORE DATA? Current BC dataset</a:t>
            </a:r>
          </a:p>
          <a:p>
            <a:r>
              <a:rPr sz="1300"/>
              <a:t>           is 33K rows. Generate 5x more synthetic trajectories,</a:t>
            </a:r>
          </a:p>
          <a:p>
            <a:r>
              <a:rPr sz="1300"/>
              <a:t>           retrain BC, see if it matches RL. This isolates "is the</a:t>
            </a:r>
          </a:p>
          <a:p>
            <a:r>
              <a:rPr sz="1300"/>
              <a:t>           win really from RL, or could supervised learning have</a:t>
            </a:r>
          </a:p>
          <a:p>
            <a:r>
              <a:rPr sz="1300"/>
              <a:t>           gotten there with more data?"</a:t>
            </a:r>
          </a:p>
          <a:p>
            <a:r>
              <a:rPr sz="1300"/>
              <a:t>           Deliverable: one extra row "BC + 5x synth" on the same bar</a:t>
            </a:r>
          </a:p>
          <a:p>
            <a:r>
              <a:rPr sz="1300"/>
              <a:t>           chart, plus a single-sentence verdict.</a:t>
            </a:r>
          </a:p>
          <a:p/>
          <a:p>
            <a:r>
              <a:rPr sz="1300"/>
              <a:t>        3. STRETCH — MPC ON THE DIFFERENTIABLE SIMULATOR. PhysTwin is</a:t>
            </a:r>
          </a:p>
          <a:p>
            <a:r>
              <a:rPr sz="1300"/>
              <a:t>           differentiable, so we can rollout-shoot MPC over ~10 steps</a:t>
            </a:r>
          </a:p>
          <a:p>
            <a:r>
              <a:rPr sz="1300"/>
              <a:t>           as an oracle baseline for the ramp-release problem.</a:t>
            </a:r>
          </a:p>
          <a:p>
            <a:r>
              <a:rPr sz="1300"/>
              <a:t>           Deliverable: a fourth video showing MPC reference vs RL on</a:t>
            </a:r>
          </a:p>
          <a:p>
            <a:r>
              <a:rPr sz="1300"/>
              <a:t>           the same trajectory.</a:t>
            </a:r>
          </a:p>
          <a:p/>
          <a:p>
            <a:r>
              <a:rPr sz="1300"/>
              <a:t>        Emphasize CONCRETE — the grader is asking for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Spend ~1.5 minutes here. Pick whichever 2 of 3 feel most</a:t>
            </a:r>
          </a:p>
          <a:p>
            <a:r>
              <a:rPr sz="1300"/>
              <a:t>        relevant during the talk:</a:t>
            </a:r>
          </a:p>
          <a:p/>
          <a:p>
            <a:r>
              <a:rPr sz="1300"/>
              <a:t>        Q1 (PPO vs policy gradient on a diff sim): the most</a:t>
            </a:r>
          </a:p>
          <a:p>
            <a:r>
              <a:rPr sz="1300"/>
              <a:t>        technically interesting one. PhysTwin is differentiable but</a:t>
            </a:r>
          </a:p>
          <a:p>
            <a:r>
              <a:rPr sz="1300"/>
              <a:t>        we treat it as a black box for PPO. Why not analytic policy</a:t>
            </a:r>
          </a:p>
          <a:p>
            <a:r>
              <a:rPr sz="1300"/>
              <a:t>        gradients or short-horizon BPTT? Honestly, I'd love an</a:t>
            </a:r>
          </a:p>
          <a:p>
            <a:r>
              <a:rPr sz="1300"/>
              <a:t>        opinion.</a:t>
            </a:r>
          </a:p>
          <a:p/>
          <a:p>
            <a:r>
              <a:rPr sz="1300"/>
              <a:t>        Q2 (richer material descriptor): we use [log Y, log F] — 2</a:t>
            </a:r>
          </a:p>
          <a:p>
            <a:r>
              <a:rPr sz="1300"/>
              <a:t>        dimensions. Should we add anisotropy, mesh density, damping?</a:t>
            </a:r>
          </a:p>
          <a:p>
            <a:r>
              <a:rPr sz="1300"/>
              <a:t>        Or is 2-d already saturated?</a:t>
            </a:r>
          </a:p>
          <a:p/>
          <a:p>
            <a:r>
              <a:rPr sz="1300"/>
              <a:t>        Q3 (cleaner alternative to per-alpha tuning): if Fix G failed</a:t>
            </a:r>
          </a:p>
          <a:p>
            <a:r>
              <a:rPr sz="1300"/>
              <a:t>        because alpha was wrong, next attempt tunes alpha per</a:t>
            </a:r>
          </a:p>
          <a:p>
            <a:r>
              <a:rPr sz="1300"/>
              <a:t>        material. But that's not principled. Is CMDP / Lagrangian /</a:t>
            </a:r>
          </a:p>
          <a:p>
            <a:r>
              <a:rPr sz="1300"/>
              <a:t>        some other formulation cleaner?</a:t>
            </a:r>
          </a:p>
          <a:p/>
          <a:p>
            <a:r>
              <a:rPr sz="1300"/>
              <a:t>        Don't try to answer yourself. Pause after each, let people</a:t>
            </a:r>
          </a:p>
          <a:p>
            <a:r>
              <a:rPr sz="1300"/>
              <a:t>       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Closing. Two lines:</a:t>
            </a:r>
          </a:p>
          <a:p>
            <a:r>
              <a:rPr sz="1300"/>
              <a:t>        - "Thanks. Happy to take questions."</a:t>
            </a:r>
          </a:p>
          <a:p>
            <a:r>
              <a:rPr sz="1300"/>
              <a:t>        - If anyone asks where the code lives:</a:t>
            </a:r>
          </a:p>
          <a:p>
            <a:r>
              <a:rPr sz="1300"/>
              <a:t>          my_work/code (all scripts) and</a:t>
            </a:r>
          </a:p>
          <a:p>
            <a:r>
              <a:rPr sz="1300"/>
              <a:t>          my_work/docs/closed_loop_control (all reviews).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111827"/>
                </a:solidFill>
                <a:latin typeface="Calibri"/>
              </a:rPr>
              <a:t>Closed-loop force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1">
                <a:solidFill>
                  <a:srgbClr val="4B5563"/>
                </a:solidFill>
                <a:latin typeface="Calibri"/>
              </a:rPr>
              <a:t>via PhysTwin's differentiable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4B5563"/>
                </a:solidFill>
                <a:latin typeface="Calibri"/>
              </a:rPr>
              <a:t>Malak Gamal Eldin · UC Irvine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invert PhysTwin: target force → gripper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Forward (prior work):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video  →  particle tracking  →  fit physics  →  contact forces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86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(slow, offline, per-video optimization)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Inverse (ours):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108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target F*(t)  →  policy  →  gripper Δ  →  realized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566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(real-time, closed-loop, one shared policy)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4B5563"/>
                </a:solidFill>
                <a:latin typeface="Calibri"/>
              </a:rPr>
              <a:t>Build the policy. Close the loop. One network, three materials.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What does “closed-loop”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policy reads achieved force every frame, not a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_closed_loo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492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4B5563"/>
                </a:solidFill>
                <a:latin typeface="Calibri"/>
              </a:rPr>
              <a:t>Open-loop drifts ~6 mm/frame. Closed-loop exposes state-distribution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data → BC → closed-loop eval → PPO+BC warm-start → 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11521440" cy="2933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4B5563"/>
                </a:solidFill>
                <a:latin typeface="Calibri"/>
              </a:rPr>
              <a:t>Synthetic motions on the calibrated simulator expand 14 real cases → 33K dataset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4B5563"/>
                </a:solidFill>
                <a:latin typeface="Calibri"/>
              </a:rPr>
              <a:t>Same MLP shape end-to-end. RL actor = BC weights + exploration 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What’s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first PPO + BC warm-start on PhysTwin’s diff sim with material conditioning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86308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Closed-loop driver inside PhysTwin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+200 LOC in trainer_warp.py · runs any policy frame-by-frame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3176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Synthetic-trajectory data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14 real cases  →  262 synthetic motions on same calibrated sim  →  33K dataset rows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0044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Inverse-dynamics BC policy + material conditioning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43-dim MLP · [log_spring_Y, log_mean_force] → one policy across rope / cloth / sloth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6912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PPO + BC warm-start, from scratch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no SB3 · critic warm-up · log-ratio clipping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3780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Diagnosis: state-distribution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4 goal-side fixes failed before we picked RL — that’s evidence, not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What the policy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45-dim observation per frame, same vector for BC and RL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_observation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521440" cy="4018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4B5563"/>
                </a:solidFill>
                <a:latin typeface="Calibri"/>
              </a:rPr>
              <a:t>Deformation + control point + force feedback + “what material am I?”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force-error ratio (lower is better) · closed-loop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_bc_vs_r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521440" cy="5404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Calibri"/>
              </a:rPr>
              <a:t>Material conditioning helps both. RL’s edge: rope replay 0.75 → 0.41, ramp release 0.04 → 0.87.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Sub-story 1 · Material conditioning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one policy across rope / cloth / sloth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2743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011680"/>
            <a:ext cx="2011680" cy="640080"/>
          </a:xfrm>
          <a:prstGeom prst="rect">
            <a:avLst/>
          </a:prstGeom>
          <a:solidFill>
            <a:srgbClr val="F8FAFC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rope 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011680"/>
            <a:ext cx="2011680" cy="640080"/>
          </a:xfrm>
          <a:prstGeom prst="rect">
            <a:avLst/>
          </a:prstGeom>
          <a:solidFill>
            <a:srgbClr val="F8FAFC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cloth ramp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2011680"/>
            <a:ext cx="2011680" cy="640080"/>
          </a:xfrm>
          <a:prstGeom prst="rect">
            <a:avLst/>
          </a:prstGeom>
          <a:solidFill>
            <a:srgbClr val="F8FAFC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sloth ramp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5176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BC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6517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6517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6.55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26517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5.06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29184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BC + 2-d desc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29184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0.46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29184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2.28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329184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1.73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93192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RL + 2-d desc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9319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0.41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9319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2.31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9319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2.66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Adding [log Y, log F] descriptor unlocks generalization — cloth ramp 6.55 → 2.28.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Sub-story 2 · The release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why BC stalls and RL doesn’t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_releas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498079" cy="3294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33172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BC never saw the input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“F(t) high, F*(t+1) low” 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at training time.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RL collects its OWN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closed-loop rollouts —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sees that state, learns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to retract.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5720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Release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93776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BC base:  0.04</a:t>
            </a:r>
          </a:p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RL + 2-d:  0.87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best supervised tracking  ·  RL release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06_BC_cloth_lift_BES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pic>
        <p:nvPicPr>
          <p:cNvPr id="6" name="01_RL_rope_ramp_HEADLIN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17920" y="1828800"/>
            <a:ext cx="5486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BC + descriptor  ·  cloth lift  ·  err 0.22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A34A"/>
                </a:solidFill>
                <a:latin typeface="Calibri"/>
              </a:rPr>
              <a:t>RL + descriptor  ·  rope ramp  ·  release 0.04 → 0.87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same closed-loop driver  ·  same simulator  ·  same 45-dim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where the policy is still uncontrolled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0024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cloth ramp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err 2.31 · still above the uncontrolled threshold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6036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sloth ramp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err 2.66 · release worked, magnitude undershoots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2048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rope_4 outlier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gentle force regime, training underrepresented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8060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Fix G shaped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validated on cloth, regressed sloth ramp — next step: per-material 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Next steps for the final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concrete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Calibri"/>
              </a:rPr>
              <a:t>1.  Per-material reward shaping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Fix G failed because α was global. Train with rope α=0, cloth α=500, sloth α=2000.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Deliverable: extra row in the headline table, target cloth ramp ≤ 2.0.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Calibri"/>
              </a:rPr>
              <a:t>2.  Can BC catch up to RL with more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Generate 5× more synthetic trajectories and retrain BC on them.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If BC matches RL → data buys the win. If not → RL is doing something supervised data can’t.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Calibri"/>
              </a:rPr>
              <a:t>3.  MPC on the diff simulator (stretch)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Rollout-shooting MPC over 10 steps for ramp release reference.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Deliverable: 4th video showing MPC oracle vs RL on the same trajectory.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Questions I’d love feedback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pick whichever you have an answer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Is on-policy PPO the right choice on a differentiable simulator,</a:t>
            </a:r>
          </a:p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or should we be using analytic-policy-gradient / short-horizon BPTT?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Material descriptor is just [log Y, log F].</a:t>
            </a:r>
          </a:p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Is a richer descriptor (anisotropy, mesh density, damping) worth chasing?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Fix G’s shaped reward failed on sloth ramp.</a:t>
            </a:r>
          </a:p>
          <a:p>
            <a:pPr algn="l"/>
            <a:r>
              <a:rPr sz="1700" b="0" i="0">
                <a:solidFill>
                  <a:srgbClr val="111827"/>
                </a:solidFill>
                <a:latin typeface="Calibri"/>
              </a:rPr>
              <a:t>Cleaner formulation than per-material α tuning?  (CMDP? Lagrangian?)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Closed-loop force tracking via PhysTwin  ·  Malak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111827"/>
                </a:solidFill>
                <a:latin typeface="Calibri"/>
              </a:rPr>
              <a:t>Thanks!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4B5563"/>
                </a:solidFill>
                <a:latin typeface="Calibri"/>
              </a:rPr>
              <a:t>Closed-loop force tracking via PhysTwin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B5563"/>
                </a:solidFill>
                <a:latin typeface="Calibri"/>
              </a:rPr>
              <a:t>Code + writeups: my_work/code, my_work/docs/closed_loop_control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