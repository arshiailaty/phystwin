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~25 seconds. Both rollouts are on the SAME case</a:t>
            </a:r>
          </a:p>
          <a:p>
            <a:r>
              <a:rPr sz="1300"/>
              <a:t>            (single_lift_rope, replay profile). Same supervised</a:t>
            </a:r>
          </a:p>
          <a:p>
            <a:r>
              <a:rPr sz="1300"/>
              <a:t>            training pipeline. The only variable is whether the policy</a:t>
            </a:r>
          </a:p>
          <a:p>
            <a:r>
              <a:rPr sz="1300"/>
              <a:t>            sees the 2-d material descriptor.</a:t>
            </a:r>
          </a:p>
          <a:p/>
          <a:p>
            <a:r>
              <a:rPr sz="1300"/>
              <a:t>            LEFT (BC base, no descriptor): error ratio 0.36. The</a:t>
            </a:r>
          </a:p>
          <a:p>
            <a:r>
              <a:rPr sz="1300"/>
              <a:t>            policy tracks the general shape of the goal force, but</a:t>
            </a:r>
          </a:p>
          <a:p>
            <a:r>
              <a:rPr sz="1300"/>
              <a:t>            lags noticeably and undershoots peaks.</a:t>
            </a:r>
          </a:p>
          <a:p/>
          <a:p>
            <a:r>
              <a:rPr sz="1300"/>
              <a:t>            RIGHT (BC + 2-d descriptor): error ratio 0.13 — a 62%</a:t>
            </a:r>
          </a:p>
          <a:p>
            <a:r>
              <a:rPr sz="1300"/>
              <a:t>            improvement. Same MLP architecture, same loss; the only</a:t>
            </a:r>
          </a:p>
          <a:p>
            <a:r>
              <a:rPr sz="1300"/>
              <a:t>            extra input is two static numbers (log of mean stiffness,</a:t>
            </a:r>
          </a:p>
          <a:p>
            <a:r>
              <a:rPr sz="1300"/>
              <a:t>            log of mean recorded force magnitude). With that hint the</a:t>
            </a:r>
          </a:p>
          <a:p>
            <a:r>
              <a:rPr sz="1300"/>
              <a:t>            policy tracks the goal closely.</a:t>
            </a:r>
          </a:p>
          <a:p/>
          <a:p>
            <a:r>
              <a:rPr sz="1300"/>
              <a:t>            Both posters show the actual force-tracking curves —</a:t>
            </a:r>
          </a:p>
          <a:p>
            <a:r>
              <a:rPr sz="1300"/>
              <a:t>            achieved vs goal magnitude over time. The right poster</a:t>
            </a:r>
          </a:p>
          <a:p>
            <a:r>
              <a:rPr sz="1300"/>
              <a:t>            shows tighter alignment.</a:t>
            </a:r>
          </a:p>
          <a:p/>
          <a:p>
            <a:r>
              <a:rPr sz="1300"/>
              <a:t>            One-liner: "Telling the network 'this is rope, force</a:t>
            </a:r>
          </a:p>
          <a:p>
            <a:r>
              <a:rPr sz="1300"/>
              <a:t>            scale ~15 kN' — two static numbers in the input —</a:t>
            </a:r>
          </a:p>
          <a:p>
            <a:r>
              <a:rPr sz="1300"/>
              <a:t>            cuts tracking error by more than half."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~20 seconds. Both policies already have the material</a:t>
            </a:r>
          </a:p>
          <a:p>
            <a:r>
              <a:rPr sz="1300"/>
              <a:t>            descriptor, so the only variable on THIS slide is BC vs</a:t>
            </a:r>
          </a:p>
          <a:p>
            <a:r>
              <a:rPr sz="1300"/>
              <a:t>            PPO refinement.</a:t>
            </a:r>
          </a:p>
          <a:p/>
          <a:p>
            <a:r>
              <a:rPr sz="1300"/>
              <a:t>            LEFT (BC + descriptor on rope ramp): rises to ~7800 N</a:t>
            </a:r>
          </a:p>
          <a:p>
            <a:r>
              <a:rPr sz="1300"/>
              <a:t>            peak, then partially retracts. Fall fraction 0.30 —</a:t>
            </a:r>
          </a:p>
          <a:p>
            <a:r>
              <a:rPr sz="1300"/>
              <a:t>            roughly a third of the peak force decays by the end.</a:t>
            </a:r>
          </a:p>
          <a:p/>
          <a:p>
            <a:r>
              <a:rPr sz="1300"/>
              <a:t>            RIGHT (RL + descriptor on the same case): same rise, but</a:t>
            </a:r>
          </a:p>
          <a:p>
            <a:r>
              <a:rPr sz="1300"/>
              <a:t>            retracts further. Fall fraction 0.58 — nearly double the</a:t>
            </a:r>
          </a:p>
          <a:p>
            <a:r>
              <a:rPr sz="1300"/>
              <a:t>            BC retraction.</a:t>
            </a:r>
          </a:p>
          <a:p/>
          <a:p>
            <a:r>
              <a:rPr sz="1300"/>
              <a:t>            Be honest here: this is a modest improvement, not a</a:t>
            </a:r>
          </a:p>
          <a:p>
            <a:r>
              <a:rPr sz="1300"/>
              <a:t>            transformation. The big "BC barely retracts at all"</a:t>
            </a:r>
          </a:p>
          <a:p>
            <a:r>
              <a:rPr sz="1300"/>
              <a:t>            failure is the bare baseline without ramp data or</a:t>
            </a:r>
          </a:p>
          <a:p>
            <a:r>
              <a:rPr sz="1300"/>
              <a:t>            descriptor — that's what the next slide shows.</a:t>
            </a:r>
          </a:p>
          <a:p/>
          <a:p>
            <a:r>
              <a:rPr sz="1300"/>
              <a:t>            One-liner: "On top of the descriptor, RL roughly doubles</a:t>
            </a:r>
          </a:p>
          <a:p>
            <a:r>
              <a:rPr sz="1300"/>
              <a:t>            the retraction. The bigger story — what RL plus the</a:t>
            </a:r>
          </a:p>
          <a:p>
            <a:r>
              <a:rPr sz="1300"/>
              <a:t>            descriptor together accomplish — is on the next slide."</a:t>
            </a:r>
          </a:p>
          <a:p/>
          <a:p>
            <a:r>
              <a:rPr sz="1300"/>
              <a:t>            If asked why the err_ratio change is modest (0.62 → 0.52):</a:t>
            </a:r>
          </a:p>
          <a:p>
            <a:r>
              <a:rPr sz="1300"/>
              <a:t>            the rising portion dominates the average and looks the</a:t>
            </a:r>
          </a:p>
          <a:p>
            <a:r>
              <a:rPr sz="1300"/>
              <a:t>            same for both. Fall fraction isolates the falling-edge</a:t>
            </a:r>
          </a:p>
          <a:p>
            <a:r>
              <a:rPr sz="1300"/>
              <a:t>            behavior — the closed-loop state where they actually</a:t>
            </a:r>
          </a:p>
          <a:p>
            <a:r>
              <a:rPr sz="1300"/>
              <a:t>           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~20 seconds. This slide is the FULL system delta — bare</a:t>
            </a:r>
          </a:p>
          <a:p>
            <a:r>
              <a:rPr sz="1300"/>
              <a:t>            baseline on the left, complete pipeline on the right.</a:t>
            </a:r>
          </a:p>
          <a:p/>
          <a:p>
            <a:r>
              <a:rPr sz="1300"/>
              <a:t>            LEFT (BC base, Step 2): no material descriptor, trained</a:t>
            </a:r>
          </a:p>
          <a:p>
            <a:r>
              <a:rPr sz="1300"/>
              <a:t>            without the synthetic ramp augmentation. When the goal</a:t>
            </a:r>
          </a:p>
          <a:p>
            <a:r>
              <a:rPr sz="1300"/>
              <a:t>            force drops back to zero at the end, the policy keeps</a:t>
            </a:r>
          </a:p>
          <a:p>
            <a:r>
              <a:rPr sz="1300"/>
              <a:t>            pushing — the final force is 8.7 kN, almost the same as</a:t>
            </a:r>
          </a:p>
          <a:p>
            <a:r>
              <a:rPr sz="1300"/>
              <a:t>            the peak. Fall fraction 0.04.</a:t>
            </a:r>
          </a:p>
          <a:p/>
          <a:p>
            <a:r>
              <a:rPr sz="1300"/>
              <a:t>            RIGHT (RL + descriptor, full pipeline): retracts to 3.3 kN</a:t>
            </a:r>
          </a:p>
          <a:p>
            <a:r>
              <a:rPr sz="1300"/>
              <a:t>            by the end. Fall fraction 0.58.</a:t>
            </a:r>
          </a:p>
          <a:p/>
          <a:p>
            <a:r>
              <a:rPr sz="1300"/>
              <a:t>            Honest framing: this is descriptor + ramp data + RL</a:t>
            </a:r>
          </a:p>
          <a:p>
            <a:r>
              <a:rPr sz="1300"/>
              <a:t>            stacked, NOT a clean RL-only delta. The previous slide</a:t>
            </a:r>
          </a:p>
          <a:p>
            <a:r>
              <a:rPr sz="1300"/>
              <a:t>            shows the isolated RL contribution (0.30 → 0.58). Most of</a:t>
            </a:r>
          </a:p>
          <a:p>
            <a:r>
              <a:rPr sz="1300"/>
              <a:t>            the retraction was unlocked by the descriptor + ramp data;</a:t>
            </a:r>
          </a:p>
          <a:p>
            <a:r>
              <a:rPr sz="1300"/>
              <a:t>            RL refined it further.</a:t>
            </a:r>
          </a:p>
          <a:p/>
          <a:p>
            <a:r>
              <a:rPr sz="1300"/>
              <a:t>            One-liner: "The end-to-end win is real — bare BC doesn't</a:t>
            </a:r>
          </a:p>
          <a:p>
            <a:r>
              <a:rPr sz="1300"/>
              <a:t>            retract, the full system does. The credit is shared</a:t>
            </a:r>
          </a:p>
          <a:p>
            <a:r>
              <a:rPr sz="1300"/>
              <a:t>            across three improvements; RL is the smallest of them but</a:t>
            </a:r>
          </a:p>
          <a:p>
            <a:r>
              <a:rPr sz="1300"/>
              <a:t>            still adds measurable lift."</a:t>
            </a:r>
          </a:p>
          <a:p/>
          <a:p>
            <a:r>
              <a:rPr sz="1300"/>
              <a:t>            If anyone asks "which contribution mattered most" — the</a:t>
            </a:r>
          </a:p>
          <a:p>
            <a:r>
              <a:rPr sz="1300"/>
              <a:t>            material descriptor; details on the bar chart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microsoft.com/office/2007/relationships/media" Target="../media/media4.mp4"/><Relationship Id="rId6" Type="http://schemas.openxmlformats.org/officeDocument/2006/relationships/video" Target="../media/media4.mp4"/><Relationship Id="rId7" Type="http://schemas.openxmlformats.org/officeDocument/2006/relationships/image" Target="../media/image4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Relationship Id="rId5" Type="http://schemas.microsoft.com/office/2007/relationships/media" Target="../media/media4.mp4"/><Relationship Id="rId6" Type="http://schemas.openxmlformats.org/officeDocument/2006/relationships/video" Target="../media/media4.mp4"/><Relationship Id="rId7" Type="http://schemas.openxmlformats.org/officeDocument/2006/relationships/image" Target="../media/image4.png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Contribution 1 · Material descriptor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same network, two extra static numbers in the input — rope replay (single_lift_rope)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09_BC_rope_repla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828800"/>
            <a:ext cx="5486400" cy="3474720"/>
          </a:xfrm>
          <a:prstGeom prst="rect">
            <a:avLst/>
          </a:prstGeom>
        </p:spPr>
      </p:pic>
      <p:pic>
        <p:nvPicPr>
          <p:cNvPr id="6" name="10_BCdesc_rope_replay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17920" y="1828800"/>
            <a:ext cx="54864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6B7280"/>
                </a:solidFill>
                <a:latin typeface="Calibri"/>
              </a:rPr>
              <a:t>BC  (no descriptor)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B5563"/>
                </a:solidFill>
                <a:latin typeface="Calibri"/>
              </a:rPr>
              <a:t>err 0.36  ·  tracks shape, but 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Calibri"/>
              </a:rPr>
              <a:t>BC + 2-d descriptor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B5563"/>
                </a:solidFill>
                <a:latin typeface="Calibri"/>
              </a:rPr>
              <a:t>err 0.13  ·  tracks closely  (−62%)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B5563"/>
                </a:solidFill>
                <a:latin typeface="Calibri"/>
              </a:rPr>
              <a:t>Same MLP. Same supervised loss. The only difference is the [log_Y, log_F] descriptor in the input.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Contribution 2 · PPO with BC warm-start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isolated RL effect — both already have the descriptor (rope ramp, single_push_rope_1)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08_BCdesc_rope_ram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828800"/>
            <a:ext cx="5486400" cy="3474720"/>
          </a:xfrm>
          <a:prstGeom prst="rect">
            <a:avLst/>
          </a:prstGeom>
        </p:spPr>
      </p:pic>
      <p:pic>
        <p:nvPicPr>
          <p:cNvPr id="6" name="01_RL_rope_ramp_HEADLINE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17920" y="1828800"/>
            <a:ext cx="54864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Calibri"/>
              </a:rPr>
              <a:t>BC + 2-d descriptor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B5563"/>
                </a:solidFill>
                <a:latin typeface="Calibri"/>
              </a:rPr>
              <a:t>fall fraction 0.30  ·  partial retraction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6A34A"/>
                </a:solidFill>
                <a:latin typeface="Calibri"/>
              </a:rPr>
              <a:t>RL + 2-d descriptor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B5563"/>
                </a:solidFill>
                <a:latin typeface="Calibri"/>
              </a:rPr>
              <a:t>fall fraction 0.58  ·  near-double retraction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B5563"/>
                </a:solidFill>
                <a:latin typeface="Calibri"/>
              </a:rPr>
              <a:t>Modest but measurable: RL nearly doubles the retraction the descriptor alone provides.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Full pipeline · BC base vs everything stacked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what the final system does that the supervised baseline can't — rope ramp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11_BC_rope_ram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828800"/>
            <a:ext cx="5486400" cy="3474720"/>
          </a:xfrm>
          <a:prstGeom prst="rect">
            <a:avLst/>
          </a:prstGeom>
        </p:spPr>
      </p:pic>
      <p:pic>
        <p:nvPicPr>
          <p:cNvPr id="6" name="01_RL_rope_ramp_HEADLINE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17920" y="1828800"/>
            <a:ext cx="54864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6B7280"/>
                </a:solidFill>
                <a:latin typeface="Calibri"/>
              </a:rPr>
              <a:t>BC base  (no descriptor, no ramp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B5563"/>
                </a:solidFill>
                <a:latin typeface="Calibri"/>
              </a:rPr>
              <a:t>fall fraction 0.04  ·  doesn’t retract at all  ·  final 8.7 kN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6A34A"/>
                </a:solidFill>
                <a:latin typeface="Calibri"/>
              </a:rPr>
              <a:t>RL + 2-d descriptor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B5563"/>
                </a:solidFill>
                <a:latin typeface="Calibri"/>
              </a:rPr>
              <a:t>fall fraction 0.58  ·  retracts to 3.3 kN  ·  goal end 0 kN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B5563"/>
                </a:solidFill>
                <a:latin typeface="Calibri"/>
              </a:rPr>
              <a:t>Stacked contributions: synthetic ramp data + material descriptor + RL refinement.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