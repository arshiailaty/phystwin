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Walk through the four boxes left-to-right, then talk about the</a:t>
            </a:r>
          </a:p>
          <a:p>
            <a:r>
              <a:rPr sz="1300"/>
              <a:t>        loop-back arrow.</a:t>
            </a:r>
          </a:p>
          <a:p/>
          <a:p>
            <a:r>
              <a:rPr sz="1300"/>
              <a:t>        Box 1: We start the RL policy from the supervised BC weights —</a:t>
            </a:r>
          </a:p>
          <a:p>
            <a:r>
              <a:rPr sz="1300"/>
              <a:t>        not from random. So even before PPO touches anything, the</a:t>
            </a:r>
          </a:p>
          <a:p>
            <a:r>
              <a:rPr sz="1300"/>
              <a:t>        actor is already a competent inverse-dynamics policy.</a:t>
            </a:r>
          </a:p>
          <a:p/>
          <a:p>
            <a:r>
              <a:rPr sz="1300"/>
              <a:t>        Box 2: To learn anything, the policy has to try variations of</a:t>
            </a:r>
          </a:p>
          <a:p>
            <a:r>
              <a:rPr sz="1300"/>
              <a:t>        its current behavior. We add small Gaussian noise to each</a:t>
            </a:r>
          </a:p>
          <a:p>
            <a:r>
              <a:rPr sz="1300"/>
              <a:t>        action, so each rollout is slightly different from the BC one.</a:t>
            </a:r>
          </a:p>
          <a:p/>
          <a:p>
            <a:r>
              <a:rPr sz="1300"/>
              <a:t>        Box 3: For each rollout, we get one score — how well did the</a:t>
            </a:r>
          </a:p>
          <a:p>
            <a:r>
              <a:rPr sz="1300"/>
              <a:t>        achieved force track the goal force in closed loop. Lower</a:t>
            </a:r>
          </a:p>
          <a:p>
            <a:r>
              <a:rPr sz="1300"/>
              <a:t>        error = higher score.</a:t>
            </a:r>
          </a:p>
          <a:p/>
          <a:p>
            <a:r>
              <a:rPr sz="1300"/>
              <a:t>        Box 4: We compute a gradient that nudges the weights toward</a:t>
            </a:r>
          </a:p>
          <a:p>
            <a:r>
              <a:rPr sz="1300"/>
              <a:t>        higher-scoring variants and away from worse ones. The "KL</a:t>
            </a:r>
          </a:p>
          <a:p>
            <a:r>
              <a:rPr sz="1300"/>
              <a:t>        clip" caps how much the policy can change in one update, so</a:t>
            </a:r>
          </a:p>
          <a:p>
            <a:r>
              <a:rPr sz="1300"/>
              <a:t>        we don't break the BC initialization in a single bad step.</a:t>
            </a:r>
          </a:p>
          <a:p/>
          <a:p>
            <a:r>
              <a:rPr sz="1300"/>
              <a:t>        Then we loop: 50,000 simulator steps total, ~25 PPO updates,</a:t>
            </a:r>
          </a:p>
          <a:p>
            <a:r>
              <a:rPr sz="1300"/>
              <a:t>        about 3 hours on one GPU.</a:t>
            </a:r>
          </a:p>
          <a:p/>
          <a:p>
            <a:r>
              <a:rPr sz="1300"/>
              <a:t>        The bottom-left bullets are the three safety tricks that make</a:t>
            </a:r>
          </a:p>
          <a:p>
            <a:r>
              <a:rPr sz="1300"/>
              <a:t>        BC warm-start actually work. Without critic warm-up, the</a:t>
            </a:r>
          </a:p>
          <a:p>
            <a:r>
              <a:rPr sz="1300"/>
              <a:t>        random value network in step 3 produces garbage scores in the</a:t>
            </a:r>
          </a:p>
          <a:p>
            <a:r>
              <a:rPr sz="1300"/>
              <a:t>        first updates, and the actor gets destroyed.</a:t>
            </a:r>
          </a:p>
          <a:p/>
          <a:p>
            <a:r>
              <a:rPr sz="1300"/>
              <a:t>        The bottom-right list is important honesty: PPO only ever</a:t>
            </a:r>
          </a:p>
          <a:p>
            <a:r>
              <a:rPr sz="1300"/>
              <a:t>        rolled out on three cases, one per material, ramp profile.</a:t>
            </a:r>
          </a:p>
          <a:p>
            <a:r>
              <a:rPr sz="1300"/>
              <a:t>        The actor's MLP saw every case via the BC warm-start, but the</a:t>
            </a:r>
          </a:p>
          <a:p>
            <a:r>
              <a:rPr sz="1300"/>
              <a:t>        PPO gradient signal only came from these three rollouts.</a:t>
            </a:r>
          </a:p>
          <a:p/>
          <a:p>
            <a:r>
              <a:rPr sz="1300"/>
              <a:t>        One-liner to deliver: "RL took the BC policy, added small</a:t>
            </a:r>
          </a:p>
          <a:p>
            <a:r>
              <a:rPr sz="1300"/>
              <a:t>        random nudges, scored each rollout in the simulator, and</a:t>
            </a:r>
          </a:p>
          <a:p>
            <a:r>
              <a:rPr sz="1300"/>
              <a:t>        bumped the weights toward variants that tracked the force</a:t>
            </a:r>
          </a:p>
          <a:p>
            <a:r>
              <a:rPr sz="1300"/>
              <a:t>        better — with three different brakes so the BC behavior</a:t>
            </a:r>
          </a:p>
          <a:p>
            <a:r>
              <a:rPr sz="1300"/>
              <a:t>        didn't fall apart in the first few updates."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  <a:latin typeface="Calibri"/>
              </a:rPr>
              <a:t>How we trained the RL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Calibri"/>
              </a:rPr>
              <a:t>small steps from the BC policy, scored by closed-loop force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0604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1.  Start from BC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Calibri"/>
              </a:rPr>
              <a:t>warm-start the actor
with BC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828800"/>
            <a:ext cx="2606040" cy="1280160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2.  Try variations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Calibri"/>
              </a:rPr>
              <a:t>add small random noise
to each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828800"/>
            <a:ext cx="2606040" cy="1280160"/>
          </a:xfrm>
          <a:prstGeom prst="roundRect">
            <a:avLst/>
          </a:prstGeom>
          <a:solidFill>
            <a:srgbClr val="FECACA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3.  Score the rollout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Calibri"/>
              </a:rPr>
              <a:t>−‖achieved − goal‖²
over the trajectory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828800"/>
            <a:ext cx="2606040" cy="1280160"/>
          </a:xfrm>
          <a:prstGeom prst="roundRect">
            <a:avLst/>
          </a:prstGeom>
          <a:solidFill>
            <a:srgbClr val="A7F3D0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4.  Nudge weights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Calibri"/>
              </a:rPr>
              <a:t>toward higher-scoring
variants (KL-clipped)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468880"/>
            <a:ext cx="246888" cy="0"/>
          </a:xfrm>
          <a:prstGeom prst="line">
            <a:avLst/>
          </a:prstGeom>
          <a:ln w="25400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16168" y="2468880"/>
            <a:ext cx="246888" cy="0"/>
          </a:xfrm>
          <a:prstGeom prst="line">
            <a:avLst/>
          </a:prstGeom>
          <a:ln w="25400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69096" y="2468880"/>
            <a:ext cx="246888" cy="0"/>
          </a:xfrm>
          <a:prstGeom prst="line">
            <a:avLst/>
          </a:prstGeom>
          <a:ln w="25400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19004" y="3108960"/>
            <a:ext cx="0" cy="41148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60220" y="3520440"/>
            <a:ext cx="8558784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60220" y="3108960"/>
            <a:ext cx="0" cy="41148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6A34A"/>
                </a:solidFill>
                <a:latin typeface="Calibri"/>
              </a:rPr>
              <a:t>repeat ~25 times  (50,000 simulator steps total)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What keeps it from breaking the BC policy: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• Critic warm-up — the helper value network trains first, so it doesn't feed garbage scores to the actor.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• Tiny actor learning rate (3·10⁻⁵) — don't undo the BC weights in one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• KL clip — cap how much each update can change the policy.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What PPO actually rolled out 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9834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single_push_rope_1   ·  ramp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double_lift_cloth_3  ·  ramp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double_stretch_sloth ·  ramp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989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3 cases  ·  one per material  ·  ramp profile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